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301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147"/>
    <a:srgbClr val="001F3D"/>
    <a:srgbClr val="001F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111"/>
    <p:restoredTop sz="96405"/>
  </p:normalViewPr>
  <p:slideViewPr>
    <p:cSldViewPr snapToGrid="0" snapToObjects="1">
      <p:cViewPr varScale="1">
        <p:scale>
          <a:sx n="228" d="100"/>
          <a:sy n="228" d="100"/>
        </p:scale>
        <p:origin x="1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49DAE-E29F-4642-9115-ED6EAAC68457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3C071-E107-3842-9E02-591F1CE81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23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3C071-E107-3842-9E02-591F1CE811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26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3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6FA090D-C570-6649-A61F-56D6975AB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983" t="6128" r="144" b="5002"/>
          <a:stretch/>
        </p:blipFill>
        <p:spPr>
          <a:xfrm>
            <a:off x="-8" y="1137889"/>
            <a:ext cx="12192003" cy="388492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0D00248-75A7-DA4B-830D-0AF6A2AA1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6110" y="5991425"/>
            <a:ext cx="7699772" cy="36512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B34AF26-9EF1-A840-BFE5-8C1E80DDB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93" y="5109601"/>
            <a:ext cx="11708205" cy="85681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395B981-5186-9145-8F1B-33C187FE0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59548" b="5860"/>
          <a:stretch/>
        </p:blipFill>
        <p:spPr>
          <a:xfrm>
            <a:off x="-8" y="33093"/>
            <a:ext cx="2993632" cy="10355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49D9CC-E8A3-0147-A44B-9AC99F7100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00022" y="78115"/>
            <a:ext cx="2265359" cy="93773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0C323EB-487F-F94D-B13E-3825E587268E}"/>
              </a:ext>
            </a:extLst>
          </p:cNvPr>
          <p:cNvSpPr/>
          <p:nvPr userDrawn="1"/>
        </p:nvSpPr>
        <p:spPr>
          <a:xfrm>
            <a:off x="1" y="1140719"/>
            <a:ext cx="12191999" cy="49018"/>
          </a:xfrm>
          <a:prstGeom prst="rect">
            <a:avLst/>
          </a:prstGeom>
          <a:solidFill>
            <a:srgbClr val="03214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F6BBCE-84CB-1447-B37D-ED8EAD49923F}"/>
              </a:ext>
            </a:extLst>
          </p:cNvPr>
          <p:cNvSpPr/>
          <p:nvPr userDrawn="1"/>
        </p:nvSpPr>
        <p:spPr>
          <a:xfrm>
            <a:off x="-125717" y="4973800"/>
            <a:ext cx="12191999" cy="49018"/>
          </a:xfrm>
          <a:prstGeom prst="rect">
            <a:avLst/>
          </a:prstGeom>
          <a:solidFill>
            <a:srgbClr val="032147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1EB4F98E-4066-4A48-87CD-6CC4FAC07B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59782"/>
            <a:ext cx="27432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7327DCE1-9CC5-5A45-BD4A-2BAEA1C058C3}" type="datetimeyyyy">
              <a:rPr lang="en-GB" smtClean="0"/>
              <a:t>2025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D0DDBED5-054A-4A4E-83ED-BF7F1580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8" y="6476292"/>
            <a:ext cx="4114800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BAFB4B-F90D-FD4C-B0EB-AFFAF77B446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448793" y="6459782"/>
            <a:ext cx="2743201" cy="398218"/>
          </a:xfrm>
        </p:spPr>
        <p:txBody>
          <a:bodyPr>
            <a:normAutofit/>
          </a:bodyPr>
          <a:lstStyle>
            <a:lvl2pPr marL="0" indent="0" algn="r" defTabSz="914400" rtl="0" eaLnBrk="1" latinLnBrk="0" hangingPunct="1"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1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375730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8E2DEA-8D72-6749-BDEE-7A21698FA1C7}"/>
              </a:ext>
            </a:extLst>
          </p:cNvPr>
          <p:cNvSpPr/>
          <p:nvPr userDrawn="1"/>
        </p:nvSpPr>
        <p:spPr>
          <a:xfrm>
            <a:off x="-23817" y="98824"/>
            <a:ext cx="12230104" cy="407193"/>
          </a:xfrm>
          <a:prstGeom prst="rect">
            <a:avLst/>
          </a:prstGeom>
          <a:solidFill>
            <a:srgbClr val="03214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891033-C4F1-4A4A-BFFB-D2D58251F074}"/>
              </a:ext>
            </a:extLst>
          </p:cNvPr>
          <p:cNvSpPr/>
          <p:nvPr userDrawn="1"/>
        </p:nvSpPr>
        <p:spPr>
          <a:xfrm>
            <a:off x="-23813" y="6380560"/>
            <a:ext cx="12230100" cy="407193"/>
          </a:xfrm>
          <a:prstGeom prst="rect">
            <a:avLst/>
          </a:prstGeom>
          <a:solidFill>
            <a:srgbClr val="03214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4858A2-292F-0E40-A984-4C9ABF1ADF17}"/>
              </a:ext>
            </a:extLst>
          </p:cNvPr>
          <p:cNvSpPr/>
          <p:nvPr userDrawn="1"/>
        </p:nvSpPr>
        <p:spPr>
          <a:xfrm>
            <a:off x="-23817" y="6479776"/>
            <a:ext cx="12244390" cy="407193"/>
          </a:xfrm>
          <a:prstGeom prst="rect">
            <a:avLst/>
          </a:prstGeom>
          <a:solidFill>
            <a:srgbClr val="0321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6EB753-D474-7948-84BF-16482BD93D34}"/>
              </a:ext>
            </a:extLst>
          </p:cNvPr>
          <p:cNvSpPr/>
          <p:nvPr userDrawn="1"/>
        </p:nvSpPr>
        <p:spPr>
          <a:xfrm>
            <a:off x="-19053" y="-7936"/>
            <a:ext cx="12230103" cy="407193"/>
          </a:xfrm>
          <a:prstGeom prst="rect">
            <a:avLst/>
          </a:prstGeom>
          <a:solidFill>
            <a:srgbClr val="0321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97BA2-993E-D849-A3D2-AD2F69535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213"/>
            <a:ext cx="10515600" cy="1133475"/>
          </a:xfrm>
        </p:spPr>
        <p:txBody>
          <a:bodyPr/>
          <a:lstStyle>
            <a:lvl1pPr>
              <a:defRPr>
                <a:cs typeface="Al Bayan Plain" pitchFamily="2" charset="-78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46EF0-61DE-FD4E-A2EE-04880E829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cs typeface="Al Bayan Plain" pitchFamily="2" charset="-78"/>
              </a:defRPr>
            </a:lvl1pPr>
            <a:lvl2pPr>
              <a:defRPr>
                <a:cs typeface="Al Bayan Plain" pitchFamily="2" charset="-78"/>
              </a:defRPr>
            </a:lvl2pPr>
            <a:lvl3pPr>
              <a:defRPr>
                <a:cs typeface="Al Bayan Plain" pitchFamily="2" charset="-78"/>
              </a:defRPr>
            </a:lvl3pPr>
            <a:lvl4pPr>
              <a:defRPr>
                <a:cs typeface="Al Bayan Plain" pitchFamily="2" charset="-78"/>
              </a:defRPr>
            </a:lvl4pPr>
            <a:lvl5pPr>
              <a:defRPr>
                <a:cs typeface="Al Bayan Plain" pitchFamily="2" charset="-78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EE76A-E6C6-814B-818A-84CC4E11AD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73824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24ED61-5711-F147-BA7E-DE699C3A2170}" type="datetimeyyyy">
              <a:rPr lang="en-GB" smtClean="0"/>
              <a:t>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701CD-7A75-D546-ADB2-59B99BF64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500811"/>
            <a:ext cx="4114800" cy="365125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F3092-E189-1841-9F95-FD27FFCF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8" y="649287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86057BB-0BA2-5D49-BC9D-AE2E04E6BB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6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BC35-9B05-124A-A847-D7B5E3673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12545-6F01-AB41-B425-AF64748C4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2BCB1-2D6E-E249-A2CA-9975998E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24F8-3B23-B24E-9FAE-4E1D8E414B85}" type="datetimeyyyy">
              <a:rPr lang="en-GB" smtClean="0"/>
              <a:t>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BCDEA-AADF-AC4A-B8DA-7D208D11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28312-1F4F-7848-99B9-C77C103F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7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E5927-F248-DB47-ACCA-D166ECA6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4C11F-3833-4D44-8223-9BEC920C1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72980-6193-974D-A123-AAD6940C9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4D918-B140-B246-8AF0-278767B94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AFC1B-F1A8-484D-977C-93875402E2CC}" type="datetimeyyyy">
              <a:rPr lang="en-GB" smtClean="0"/>
              <a:t>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12490-44EA-2B49-8739-1290E1EA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08B29-42E0-524B-B579-F40F8208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99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05DB-2AE3-D941-9D3E-D2402F8C4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9AF55-4449-A740-A80C-DF46C1EFB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5EC17-A7DB-BA48-9F35-4E52AC513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A6420-6433-AB4A-895D-3046CB178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8F9437-88C4-FF4F-AE0C-6179E5B6B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56722A-FB6B-5B42-A746-2622EF63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CDEC-6193-214D-8002-4307DE5B1F19}" type="datetimeyyyy">
              <a:rPr lang="en-GB" smtClean="0"/>
              <a:t>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A71B1-9B8E-1649-BD56-6D01ABAD1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255682-4E88-C947-A2C6-6A8CFD0BD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4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582B-A9F4-FA48-A64A-99FE8D49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A4D804-3679-ED45-9F86-26710073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EC0E-5DFC-724B-A32D-14FEA57F83DB}" type="datetimeyyyy">
              <a:rPr lang="en-GB" smtClean="0"/>
              <a:t>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8F1D30-D779-7147-8836-9E4F117F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74228-ECF5-0C4F-89B9-BF6B8BE2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0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EAA2EF-5B99-F24E-A21B-FE4305BE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D94B2-1AC9-E74C-AC1E-BB3DC33419EA}" type="datetimeyyyy">
              <a:rPr lang="en-GB" smtClean="0"/>
              <a:t>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2528C1-61B5-3242-8FCF-E54940AA6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365C2-ADC2-884F-8994-E8E7584E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6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5BE3B-E737-104D-9677-836A5EC3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50B1E-F306-F74E-A3FE-E6B297288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C28A3-6F96-7246-B1CC-6CC32DFAA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DB9BD-BBDD-5848-9849-EE066646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1442C-BD50-2740-ADFC-6F69AC8715E2}" type="datetimeyyyy">
              <a:rPr lang="en-GB" smtClean="0"/>
              <a:t>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6B09D-991A-064B-9F78-A5D2B77A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0184F-7EFA-0F45-8399-4C2DB653D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1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FF14-DD10-3640-A66B-8F8991571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F8077-5EF2-3640-9624-9B1954089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8A6BE-D4AA-8D47-9803-9DF6B3385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EFF75-E350-0D4D-811B-3DA875F39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73CF-93A9-0F41-97C8-149F5F119DD5}" type="datetimeyyyy">
              <a:rPr lang="en-GB" smtClean="0"/>
              <a:t>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1CC0C-14D0-3945-AB44-74F08658E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A5BDF-E6C7-7643-93F9-4CDEFF8E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17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2403-505D-3A49-820C-C95A09972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1D829-FE5F-D647-83F5-23E19D897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FC04F-AEFD-2A44-88A1-9A98D1B8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232B-A99D-5342-8959-E768F495C93C}" type="datetimeyyyy">
              <a:rPr lang="en-GB" smtClean="0"/>
              <a:t>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EC52C-9EDF-1848-92D8-EA873FEE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E6BE3-2962-7147-BFF6-426A3D1A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49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99C73-99E4-0D42-AB50-B9F0BA8A7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FD184-CD5D-7244-B039-4692C7BC5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4E7B0-17F6-6745-B432-E1B10CA0A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4F0B-C513-AA40-9525-1E4A8B573BE7}" type="datetimeyyyy">
              <a:rPr lang="en-GB" smtClean="0"/>
              <a:t>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223F2-7BE7-A44A-9A32-E572BE683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B7DDE-38FB-D049-876D-D90C5C6C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08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BC459-4443-EE46-B311-85E5A1F79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2C11F-6E33-AC47-BF44-7B3BF301B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57C20-942C-0F4E-AA9A-A5DAC9748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EF4C1-2812-B846-910A-86484A22C39F}" type="datetimeyyyy">
              <a:rPr lang="en-GB" smtClean="0"/>
              <a:t>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56EA8-9BBD-E44E-9168-F8B63D4D3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Oxford - RAL - IRIS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87812-BBBC-6C40-8224-ABD41A93D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057BB-0BA2-5D49-BC9D-AE2E04E6B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opendata.atlas.cer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1B95-A0E2-0F4D-BF48-02F97B816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5214235"/>
            <a:ext cx="9144000" cy="1220787"/>
          </a:xfrm>
        </p:spPr>
        <p:txBody>
          <a:bodyPr>
            <a:normAutofit/>
          </a:bodyPr>
          <a:lstStyle/>
          <a:p>
            <a:r>
              <a:rPr lang="en-GB" dirty="0">
                <a:cs typeface="Arial"/>
              </a:rPr>
              <a:t>Finding Open Data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A24F3-187D-6444-86BB-E7BE10EA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864DC8-ABAE-0FEA-CB94-FBB381F9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352E-926E-A44F-BFD8-1A4029AF912B}" type="datetimeyyyy">
              <a:rPr lang="en-GB" smtClean="0"/>
              <a:t>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51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417D4-6034-6E42-7F15-EF4D96BC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C855E-27B4-F7EE-1EC8-6B4DD519F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First, go to the ATLAS Open Data website:</a:t>
            </a:r>
          </a:p>
          <a:p>
            <a:pPr marL="0" indent="0">
              <a:buNone/>
            </a:pPr>
            <a:r>
              <a:rPr lang="en-GB" dirty="0">
                <a:hlinkClick r:id="rId2"/>
              </a:rPr>
              <a:t>https://opendata.atlas.cern/</a:t>
            </a:r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7BB74-2759-93B2-EC4E-32EA91DB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983B-E2C8-EDA7-03DA-C6FC9C5C6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 descr="A logo with colorful text&#10;&#10;AI-generated content may be incorrect.">
            <a:extLst>
              <a:ext uri="{FF2B5EF4-FFF2-40B4-BE49-F238E27FC236}">
                <a16:creationId xmlns:a16="http://schemas.microsoft.com/office/drawing/2014/main" id="{A5C494D8-62EA-5BA9-05FA-85375714E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380" y="3917815"/>
            <a:ext cx="4289428" cy="2259148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9209812-DC48-DB2E-0650-A5875499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A414-6BDB-8149-B408-29AAED91EA59}" type="datetimeyyyy">
              <a:rPr lang="en-GB" smtClean="0"/>
              <a:t>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951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F86D6-7EE0-DE05-F388-5647C63D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6673-AC54-A138-F12E-3DF8FE79F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85E10-6919-08EB-C1A7-F291BCD2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2DB0E-E595-94E5-5D12-8905EAC9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6FBC1-6812-5241-DE69-DDF468FDA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92" y="1690688"/>
            <a:ext cx="9612014" cy="4356847"/>
          </a:xfrm>
          <a:prstGeom prst="rect">
            <a:avLst/>
          </a:prstGeom>
        </p:spPr>
      </p:pic>
      <p:sp>
        <p:nvSpPr>
          <p:cNvPr id="7" name="Speech Bubble: Rectangle with Corners Rounded 13">
            <a:extLst>
              <a:ext uri="{FF2B5EF4-FFF2-40B4-BE49-F238E27FC236}">
                <a16:creationId xmlns:a16="http://schemas.microsoft.com/office/drawing/2014/main" id="{4DE620E8-7DA8-3F12-1DC9-563B98AD5B73}"/>
              </a:ext>
            </a:extLst>
          </p:cNvPr>
          <p:cNvSpPr/>
          <p:nvPr/>
        </p:nvSpPr>
        <p:spPr>
          <a:xfrm>
            <a:off x="8540628" y="2449475"/>
            <a:ext cx="2448534" cy="1791730"/>
          </a:xfrm>
          <a:prstGeom prst="wedgeRoundRectCallout">
            <a:avLst>
              <a:gd name="adj1" fmla="val -148333"/>
              <a:gd name="adj2" fmla="val -73690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You should also explore the “Documentation” tab</a:t>
            </a:r>
          </a:p>
        </p:txBody>
      </p:sp>
      <p:sp>
        <p:nvSpPr>
          <p:cNvPr id="8" name="Speech Bubble: Rectangle with Corners Rounded 14">
            <a:extLst>
              <a:ext uri="{FF2B5EF4-FFF2-40B4-BE49-F238E27FC236}">
                <a16:creationId xmlns:a16="http://schemas.microsoft.com/office/drawing/2014/main" id="{6B1A1676-68EC-C302-FB3D-630177B14693}"/>
              </a:ext>
            </a:extLst>
          </p:cNvPr>
          <p:cNvSpPr/>
          <p:nvPr/>
        </p:nvSpPr>
        <p:spPr>
          <a:xfrm>
            <a:off x="1125450" y="2449475"/>
            <a:ext cx="2448534" cy="1791730"/>
          </a:xfrm>
          <a:prstGeom prst="wedgeRoundRectCallout">
            <a:avLst>
              <a:gd name="adj1" fmla="val 51334"/>
              <a:gd name="adj2" fmla="val -74052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We will click “Data” to explore the data collections.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10CB07B-84A2-C0AC-3FE7-E4223B46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55E88-DFFE-F748-A1EA-10FBA41D9D9E}" type="datetimeyyyy">
              <a:rPr lang="en-GB" smtClean="0"/>
              <a:t>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16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8B89-8171-57AF-9C40-59046653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6CB91-C7CE-3779-A04C-1E32FC26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90357-764F-1E57-A8C9-CF6A0DEE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1DEC6-E113-223D-E5DF-7CBA9F8D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087FF8-B8DE-8A34-649A-837485870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718" y="1690688"/>
            <a:ext cx="6684561" cy="4263219"/>
          </a:xfrm>
          <a:prstGeom prst="rect">
            <a:avLst/>
          </a:prstGeom>
        </p:spPr>
      </p:pic>
      <p:sp>
        <p:nvSpPr>
          <p:cNvPr id="7" name="Speech Bubble: Rectangle with Corners Rounded 5">
            <a:extLst>
              <a:ext uri="{FF2B5EF4-FFF2-40B4-BE49-F238E27FC236}">
                <a16:creationId xmlns:a16="http://schemas.microsoft.com/office/drawing/2014/main" id="{B5CFCB3E-8A94-ACB0-5E59-2F6BFAAEEA14}"/>
              </a:ext>
            </a:extLst>
          </p:cNvPr>
          <p:cNvSpPr/>
          <p:nvPr/>
        </p:nvSpPr>
        <p:spPr>
          <a:xfrm>
            <a:off x="150608" y="3022808"/>
            <a:ext cx="2097741" cy="1430767"/>
          </a:xfrm>
          <a:prstGeom prst="wedgeRoundRectCallout">
            <a:avLst>
              <a:gd name="adj1" fmla="val 89904"/>
              <a:gd name="adj2" fmla="val -44921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Read through the information linked here.</a:t>
            </a:r>
          </a:p>
        </p:txBody>
      </p:sp>
      <p:sp>
        <p:nvSpPr>
          <p:cNvPr id="8" name="Speech Bubble: Rectangle with Corners Rounded 6">
            <a:extLst>
              <a:ext uri="{FF2B5EF4-FFF2-40B4-BE49-F238E27FC236}">
                <a16:creationId xmlns:a16="http://schemas.microsoft.com/office/drawing/2014/main" id="{643CBD18-8868-695F-944C-607E432CC6E1}"/>
              </a:ext>
            </a:extLst>
          </p:cNvPr>
          <p:cNvSpPr/>
          <p:nvPr/>
        </p:nvSpPr>
        <p:spPr>
          <a:xfrm>
            <a:off x="9081523" y="3347331"/>
            <a:ext cx="2097741" cy="1430767"/>
          </a:xfrm>
          <a:prstGeom prst="wedgeRoundRectCallout">
            <a:avLst>
              <a:gd name="adj1" fmla="val -90096"/>
              <a:gd name="adj2" fmla="val 84402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Then click on Data for Education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1368891-E53D-9ADE-B7A2-222FEA37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9C92-CE19-7842-882F-1856F0B496A7}" type="datetimeyyyy">
              <a:rPr lang="en-GB" smtClean="0"/>
              <a:t>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5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99621-DB54-0EB9-9D75-C9820535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F37C-68BC-1463-4ED8-E53DDDD2E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C7C4B-B04F-DEEA-EAB7-21419804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67D0E-1EEA-39FB-C95A-04A2D64D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92617-B027-6865-B8DE-3885503D1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309" y="1690688"/>
            <a:ext cx="7287379" cy="4474997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76D8AF2E-F5C9-73A8-ABCC-31113FF1E5FD}"/>
              </a:ext>
            </a:extLst>
          </p:cNvPr>
          <p:cNvSpPr/>
          <p:nvPr/>
        </p:nvSpPr>
        <p:spPr>
          <a:xfrm>
            <a:off x="9271094" y="1363498"/>
            <a:ext cx="2698101" cy="3395550"/>
          </a:xfrm>
          <a:prstGeom prst="wedgeRoundRectCallout">
            <a:avLst>
              <a:gd name="adj1" fmla="val -76198"/>
              <a:gd name="adj2" fmla="val 24079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We will initially be using the 2020 data. </a:t>
            </a:r>
          </a:p>
          <a:p>
            <a:pPr algn="ctr"/>
            <a:endParaRPr lang="en-GB" sz="2000" dirty="0"/>
          </a:p>
          <a:p>
            <a:pPr algn="ctr"/>
            <a:r>
              <a:rPr lang="en-GB" sz="2000" dirty="0"/>
              <a:t>If you want to you can explore other data sets when conducting your own research in Phase 3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0322672-3180-2002-6EC8-BD0190BE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58347-1357-C94C-ACD0-94DCD40D57D0}" type="datetimeyyyy">
              <a:rPr lang="en-GB" smtClean="0"/>
              <a:t>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08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D1103-80D0-3C1E-B87F-467A3F660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7BBD-E3B7-8237-BB3A-F6108BA8D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068C5-6611-98D8-5A6E-4448BC19F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6648E-7693-D088-5374-18A16EFB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ED204D-5A28-1D02-9AF7-C3F747519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95" y="1690688"/>
            <a:ext cx="5480207" cy="4531121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66FB4B1-712C-C539-9F48-5FF92CBA72DF}"/>
              </a:ext>
            </a:extLst>
          </p:cNvPr>
          <p:cNvSpPr/>
          <p:nvPr/>
        </p:nvSpPr>
        <p:spPr>
          <a:xfrm>
            <a:off x="154922" y="2000797"/>
            <a:ext cx="2760151" cy="4299990"/>
          </a:xfrm>
          <a:prstGeom prst="wedgeRoundRectCallout">
            <a:avLst>
              <a:gd name="adj1" fmla="val 72747"/>
              <a:gd name="adj2" fmla="val 5922"/>
              <a:gd name="adj3" fmla="val 16667"/>
            </a:avLst>
          </a:prstGeom>
          <a:solidFill>
            <a:srgbClr val="0321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Read down through this page. Some parts might be confusing, but you will gradually develop familiarity with the notation and the contents of the files.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You will likely revisit it and the documentation tab a few times to read about the different types of analysis you can do and to find the numbers/names of datafiles for those analyses.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806DE87-D95E-63D0-9E15-13A92F6B7005}"/>
              </a:ext>
            </a:extLst>
          </p:cNvPr>
          <p:cNvSpPr/>
          <p:nvPr/>
        </p:nvSpPr>
        <p:spPr>
          <a:xfrm>
            <a:off x="9325005" y="3570226"/>
            <a:ext cx="2643774" cy="1562548"/>
          </a:xfrm>
          <a:prstGeom prst="wedgeRoundRectCallout">
            <a:avLst>
              <a:gd name="adj1" fmla="val -126050"/>
              <a:gd name="adj2" fmla="val 25395"/>
              <a:gd name="adj3" fmla="val 16667"/>
            </a:avLst>
          </a:prstGeom>
          <a:solidFill>
            <a:srgbClr val="0321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When you’re ready, click the blue button to navigate to the files themselves.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600C643-C66A-1AD2-0669-539C2B42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D7AC-567F-6F4A-8E14-4BD7D7EBFBA2}" type="datetimeyyyy">
              <a:rPr lang="en-GB" smtClean="0"/>
              <a:t>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530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ACCE3-2367-886E-0A5A-BE0F61B19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EECE-7B56-5E56-D534-296ADB05A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2B8CA-24CB-C291-C766-EF705EB17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DE20A-7D27-149F-CFFA-9BAC15C8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00CEF6-A0AA-C2A3-0650-C672F39F5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948" y="1690688"/>
            <a:ext cx="8414102" cy="4466882"/>
          </a:xfrm>
          <a:prstGeom prst="rect">
            <a:avLst/>
          </a:prstGeom>
        </p:spPr>
      </p:pic>
      <p:sp>
        <p:nvSpPr>
          <p:cNvPr id="7" name="Speech Bubble: Rectangle with Corners Rounded 7">
            <a:extLst>
              <a:ext uri="{FF2B5EF4-FFF2-40B4-BE49-F238E27FC236}">
                <a16:creationId xmlns:a16="http://schemas.microsoft.com/office/drawing/2014/main" id="{5C237FC5-C364-C18C-5831-92FFEAE07804}"/>
              </a:ext>
            </a:extLst>
          </p:cNvPr>
          <p:cNvSpPr/>
          <p:nvPr/>
        </p:nvSpPr>
        <p:spPr>
          <a:xfrm>
            <a:off x="133815" y="2352906"/>
            <a:ext cx="2303194" cy="3021982"/>
          </a:xfrm>
          <a:prstGeom prst="wedgeRoundRectCallout">
            <a:avLst>
              <a:gd name="adj1" fmla="val 58914"/>
              <a:gd name="adj2" fmla="val -7961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You can use filters to narrow your search, e.g. if you want Monte Carlo simulated data you can select “Derived”</a:t>
            </a:r>
          </a:p>
        </p:txBody>
      </p:sp>
      <p:sp>
        <p:nvSpPr>
          <p:cNvPr id="8" name="Speech Bubble: Rectangle with Corners Rounded 8">
            <a:extLst>
              <a:ext uri="{FF2B5EF4-FFF2-40B4-BE49-F238E27FC236}">
                <a16:creationId xmlns:a16="http://schemas.microsoft.com/office/drawing/2014/main" id="{36836BEC-61CD-9615-C527-01C1C32A2B28}"/>
              </a:ext>
            </a:extLst>
          </p:cNvPr>
          <p:cNvSpPr/>
          <p:nvPr/>
        </p:nvSpPr>
        <p:spPr>
          <a:xfrm>
            <a:off x="9448798" y="4155272"/>
            <a:ext cx="2643774" cy="1562548"/>
          </a:xfrm>
          <a:prstGeom prst="wedgeRoundRectCallout">
            <a:avLst>
              <a:gd name="adj1" fmla="val -111093"/>
              <a:gd name="adj2" fmla="val -86900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Then you can click on a row to look at it in detail.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E895610-C17D-902F-63AE-229385D7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E96D-23DD-FD46-B86F-8F069D45F895}" type="datetimeyyyy">
              <a:rPr lang="en-GB" smtClean="0"/>
              <a:t>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86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E678-EFDF-288B-DD23-0BD56418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AA731-036F-030C-435D-DF01ABCB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7734-DE36-C651-20DE-1ACB0EA65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317D3-AB4C-61C7-9F43-E22AA0AE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E00348-A921-C0EC-6F2C-303DCB92E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968" y="1690688"/>
            <a:ext cx="8340062" cy="4481936"/>
          </a:xfrm>
          <a:prstGeom prst="rect">
            <a:avLst/>
          </a:prstGeom>
        </p:spPr>
      </p:pic>
      <p:sp>
        <p:nvSpPr>
          <p:cNvPr id="10" name="Speech Bubble: Rectangle with Corners Rounded 8">
            <a:extLst>
              <a:ext uri="{FF2B5EF4-FFF2-40B4-BE49-F238E27FC236}">
                <a16:creationId xmlns:a16="http://schemas.microsoft.com/office/drawing/2014/main" id="{0956F5BA-01C7-C328-E3B7-B9D39EE1F0F6}"/>
              </a:ext>
            </a:extLst>
          </p:cNvPr>
          <p:cNvSpPr/>
          <p:nvPr/>
        </p:nvSpPr>
        <p:spPr>
          <a:xfrm>
            <a:off x="7367558" y="1452354"/>
            <a:ext cx="3869153" cy="1562548"/>
          </a:xfrm>
          <a:prstGeom prst="wedgeRoundRectCallout">
            <a:avLst>
              <a:gd name="adj1" fmla="val -128139"/>
              <a:gd name="adj2" fmla="val 43940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These DOI links are unique identifiers that can be used with the </a:t>
            </a:r>
            <a:r>
              <a:rPr lang="en-GB" sz="2000" dirty="0" err="1"/>
              <a:t>opendata</a:t>
            </a:r>
            <a:r>
              <a:rPr lang="en-GB" sz="2000" dirty="0"/>
              <a:t> client and the FileRetriever.py “</a:t>
            </a:r>
            <a:r>
              <a:rPr lang="en-GB" sz="2000" dirty="0" err="1"/>
              <a:t>print_files</a:t>
            </a:r>
            <a:r>
              <a:rPr lang="en-GB" sz="2000" dirty="0"/>
              <a:t>” method.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98074B1-CB31-7E7D-2F07-8D2021CD3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F587-42CD-4246-9CB6-38B96FA26F51}" type="datetimeyyyy">
              <a:rPr lang="en-GB" smtClean="0"/>
              <a:t>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55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5326A-7AC4-64B6-CC66-4B044684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47DE-1DEC-57A4-B16D-212D5F93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1BC67-8EDF-65B9-14F7-4C75289F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44AC8-C178-84E0-31FE-E7F85A9B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A1928C-6410-CAAB-3D9D-B1A8E548E5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62"/>
          <a:stretch>
            <a:fillRect/>
          </a:stretch>
        </p:blipFill>
        <p:spPr>
          <a:xfrm>
            <a:off x="1570575" y="1690688"/>
            <a:ext cx="9050847" cy="4460788"/>
          </a:xfrm>
          <a:prstGeom prst="rect">
            <a:avLst/>
          </a:prstGeom>
        </p:spPr>
      </p:pic>
      <p:sp>
        <p:nvSpPr>
          <p:cNvPr id="7" name="Speech Bubble: Rectangle with Corners Rounded 8">
            <a:extLst>
              <a:ext uri="{FF2B5EF4-FFF2-40B4-BE49-F238E27FC236}">
                <a16:creationId xmlns:a16="http://schemas.microsoft.com/office/drawing/2014/main" id="{81AC4163-6654-59DC-3930-C0DAE9FFC831}"/>
              </a:ext>
            </a:extLst>
          </p:cNvPr>
          <p:cNvSpPr/>
          <p:nvPr/>
        </p:nvSpPr>
        <p:spPr>
          <a:xfrm>
            <a:off x="4338363" y="4098919"/>
            <a:ext cx="1807634" cy="998559"/>
          </a:xfrm>
          <a:prstGeom prst="wedgeRoundRectCallout">
            <a:avLst>
              <a:gd name="adj1" fmla="val -61144"/>
              <a:gd name="adj2" fmla="val 108222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Sometimes there are a lot of tiles!</a:t>
            </a:r>
          </a:p>
        </p:txBody>
      </p:sp>
      <p:sp>
        <p:nvSpPr>
          <p:cNvPr id="8" name="Speech Bubble: Rectangle with Corners Rounded 6">
            <a:extLst>
              <a:ext uri="{FF2B5EF4-FFF2-40B4-BE49-F238E27FC236}">
                <a16:creationId xmlns:a16="http://schemas.microsoft.com/office/drawing/2014/main" id="{5CD17505-EBF0-07C4-4095-24F726AA1059}"/>
              </a:ext>
            </a:extLst>
          </p:cNvPr>
          <p:cNvSpPr/>
          <p:nvPr/>
        </p:nvSpPr>
        <p:spPr>
          <a:xfrm>
            <a:off x="5368085" y="2069303"/>
            <a:ext cx="2191871" cy="998559"/>
          </a:xfrm>
          <a:prstGeom prst="wedgeRoundRectCallout">
            <a:avLst>
              <a:gd name="adj1" fmla="val -75742"/>
              <a:gd name="adj2" fmla="val -27680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There are links to the documentation</a:t>
            </a:r>
          </a:p>
        </p:txBody>
      </p:sp>
      <p:sp>
        <p:nvSpPr>
          <p:cNvPr id="9" name="Speech Bubble: Rectangle with Corners Rounded 7">
            <a:extLst>
              <a:ext uri="{FF2B5EF4-FFF2-40B4-BE49-F238E27FC236}">
                <a16:creationId xmlns:a16="http://schemas.microsoft.com/office/drawing/2014/main" id="{4D99FFFB-AA42-F805-74B0-C8F458521D8A}"/>
              </a:ext>
            </a:extLst>
          </p:cNvPr>
          <p:cNvSpPr/>
          <p:nvPr/>
        </p:nvSpPr>
        <p:spPr>
          <a:xfrm>
            <a:off x="9446750" y="706524"/>
            <a:ext cx="2639425" cy="2954504"/>
          </a:xfrm>
          <a:prstGeom prst="wedgeRoundRectCallout">
            <a:avLst>
              <a:gd name="adj1" fmla="val -25233"/>
              <a:gd name="adj2" fmla="val 91992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It is possible to download the files and work with them locally, but as they are very large this is inefficient. It also doesn’t work well with the Monty server.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86D975C-C847-90C4-6B75-A95E9146B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2FD54-E0DD-E143-8887-2CBD402BF85A}" type="datetimeyyyy">
              <a:rPr lang="en-GB" smtClean="0"/>
              <a:t>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370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5AB63-941F-B10C-65AD-1B450991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E5A6-063C-6848-F1E9-C2BFDE446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14FB7-19E0-9B6B-5243-E33B29F5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9A9AC-F4A4-052F-677D-71EDE447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654F69-F00E-FB98-D1F9-7D11D1627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968" y="1690688"/>
            <a:ext cx="8340062" cy="4481936"/>
          </a:xfrm>
          <a:prstGeom prst="rect">
            <a:avLst/>
          </a:prstGeom>
        </p:spPr>
      </p:pic>
      <p:sp>
        <p:nvSpPr>
          <p:cNvPr id="7" name="Speech Bubble: Rectangle with Corners Rounded 8">
            <a:extLst>
              <a:ext uri="{FF2B5EF4-FFF2-40B4-BE49-F238E27FC236}">
                <a16:creationId xmlns:a16="http://schemas.microsoft.com/office/drawing/2014/main" id="{3417A04F-3B32-B244-EC68-C82F3C83054C}"/>
              </a:ext>
            </a:extLst>
          </p:cNvPr>
          <p:cNvSpPr/>
          <p:nvPr/>
        </p:nvSpPr>
        <p:spPr>
          <a:xfrm>
            <a:off x="7451192" y="1767470"/>
            <a:ext cx="3036529" cy="1405052"/>
          </a:xfrm>
          <a:prstGeom prst="wedgeRoundRectCallout">
            <a:avLst>
              <a:gd name="adj1" fmla="val -148351"/>
              <a:gd name="adj2" fmla="val 32472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So instead, copy and paste this DOI and bring it back to your notebook.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D41F5A9-B2E2-A817-2F5D-62F99C39E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A7989-8717-ED4D-9337-5A2308BC2B07}" type="datetimeyyyy">
              <a:rPr lang="en-GB" smtClean="0"/>
              <a:t>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6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6682C-EC4F-F107-7543-75F5D4276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D5C44-DBF4-7BAA-B834-A86F8047F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82C82-90AE-BB0C-6BEB-94C40781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1E42D-8722-6B91-A0A2-84C5247A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74C48-B2B9-6EBB-805C-DDDE4DC21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59858"/>
            <a:ext cx="7811590" cy="2686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9B3FFA-D0E3-DAED-991E-70992918C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5352018" cy="1769170"/>
          </a:xfrm>
          <a:prstGeom prst="rect">
            <a:avLst/>
          </a:prstGeom>
        </p:spPr>
      </p:pic>
      <p:sp>
        <p:nvSpPr>
          <p:cNvPr id="8" name="Speech Bubble: Rectangle with Corners Rounded 8">
            <a:extLst>
              <a:ext uri="{FF2B5EF4-FFF2-40B4-BE49-F238E27FC236}">
                <a16:creationId xmlns:a16="http://schemas.microsoft.com/office/drawing/2014/main" id="{D3351D2F-6694-3ED4-4366-79522237DAC9}"/>
              </a:ext>
            </a:extLst>
          </p:cNvPr>
          <p:cNvSpPr/>
          <p:nvPr/>
        </p:nvSpPr>
        <p:spPr>
          <a:xfrm>
            <a:off x="7755152" y="3187825"/>
            <a:ext cx="4243080" cy="1133475"/>
          </a:xfrm>
          <a:prstGeom prst="wedgeRoundRectCallout">
            <a:avLst>
              <a:gd name="adj1" fmla="val -143379"/>
              <a:gd name="adj2" fmla="val 9745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This is how to use the DOI from the top of the page to retrieve the list of </a:t>
            </a:r>
            <a:r>
              <a:rPr lang="en-GB" sz="2000" dirty="0" err="1"/>
              <a:t>urls</a:t>
            </a:r>
            <a:r>
              <a:rPr lang="en-GB" sz="2000" dirty="0"/>
              <a:t> for the data files.</a:t>
            </a:r>
          </a:p>
        </p:txBody>
      </p:sp>
      <p:sp>
        <p:nvSpPr>
          <p:cNvPr id="9" name="Speech Bubble: Rectangle with Corners Rounded 6">
            <a:extLst>
              <a:ext uri="{FF2B5EF4-FFF2-40B4-BE49-F238E27FC236}">
                <a16:creationId xmlns:a16="http://schemas.microsoft.com/office/drawing/2014/main" id="{3570E376-5D3C-618B-8732-4341B0E56C8A}"/>
              </a:ext>
            </a:extLst>
          </p:cNvPr>
          <p:cNvSpPr/>
          <p:nvPr/>
        </p:nvSpPr>
        <p:spPr>
          <a:xfrm>
            <a:off x="7110703" y="1875222"/>
            <a:ext cx="4810545" cy="1133475"/>
          </a:xfrm>
          <a:prstGeom prst="wedgeRoundRectCallout">
            <a:avLst>
              <a:gd name="adj1" fmla="val -106930"/>
              <a:gd name="adj2" fmla="val 57780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In Notebook 3 we show you how to import the </a:t>
            </a:r>
            <a:r>
              <a:rPr lang="en-GB" sz="2000" dirty="0" err="1"/>
              <a:t>print_files</a:t>
            </a:r>
            <a:r>
              <a:rPr lang="en-GB" sz="2000" dirty="0"/>
              <a:t> method from the </a:t>
            </a:r>
            <a:r>
              <a:rPr lang="en-GB" sz="2000" dirty="0" err="1"/>
              <a:t>FileRetriever</a:t>
            </a:r>
            <a:endParaRPr lang="en-GB" sz="2000" dirty="0"/>
          </a:p>
        </p:txBody>
      </p:sp>
      <p:sp>
        <p:nvSpPr>
          <p:cNvPr id="10" name="Speech Bubble: Rectangle with Corners Rounded 10">
            <a:extLst>
              <a:ext uri="{FF2B5EF4-FFF2-40B4-BE49-F238E27FC236}">
                <a16:creationId xmlns:a16="http://schemas.microsoft.com/office/drawing/2014/main" id="{31B45E96-4E0E-BBE5-1FE5-BA10998ABBA8}"/>
              </a:ext>
            </a:extLst>
          </p:cNvPr>
          <p:cNvSpPr/>
          <p:nvPr/>
        </p:nvSpPr>
        <p:spPr>
          <a:xfrm>
            <a:off x="7769122" y="4667054"/>
            <a:ext cx="4243080" cy="1133475"/>
          </a:xfrm>
          <a:prstGeom prst="wedgeRoundRectCallout">
            <a:avLst>
              <a:gd name="adj1" fmla="val -87692"/>
              <a:gd name="adj2" fmla="val -68313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Copy the link of the file that you want.</a:t>
            </a:r>
          </a:p>
        </p:txBody>
      </p:sp>
      <p:sp>
        <p:nvSpPr>
          <p:cNvPr id="11" name="Up Arrow 10">
            <a:extLst>
              <a:ext uri="{FF2B5EF4-FFF2-40B4-BE49-F238E27FC236}">
                <a16:creationId xmlns:a16="http://schemas.microsoft.com/office/drawing/2014/main" id="{E02B2862-8B73-1DE2-DE03-A2D0261155DF}"/>
              </a:ext>
            </a:extLst>
          </p:cNvPr>
          <p:cNvSpPr/>
          <p:nvPr/>
        </p:nvSpPr>
        <p:spPr>
          <a:xfrm>
            <a:off x="2693615" y="3911019"/>
            <a:ext cx="289932" cy="223025"/>
          </a:xfrm>
          <a:prstGeom prst="upArrow">
            <a:avLst/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D812419-39DB-6974-D94C-4AFD0F971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34976-6452-A44D-90A2-92F7E8623B56}" type="datetimeyyyy">
              <a:rPr lang="en-GB" smtClean="0"/>
              <a:t>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27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4AE0A-857D-6A3F-9E18-2661B1FE7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DEAA-69FD-49B0-AC3D-3EC2F680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Open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688AD-C11F-C597-4F0B-8C56DB4C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Oxford - RAL - IRIS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2C346-6D3E-C587-B4AB-B441226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057BB-0BA2-5D49-BC9D-AE2E04E6BBD9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0A0093-BC36-C762-89F2-306D939F2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1932"/>
            <a:ext cx="10931148" cy="604013"/>
          </a:xfrm>
          <a:prstGeom prst="rect">
            <a:avLst/>
          </a:prstGeom>
        </p:spPr>
      </p:pic>
      <p:sp>
        <p:nvSpPr>
          <p:cNvPr id="8" name="Speech Bubble: Rectangle with Corners Rounded 8">
            <a:extLst>
              <a:ext uri="{FF2B5EF4-FFF2-40B4-BE49-F238E27FC236}">
                <a16:creationId xmlns:a16="http://schemas.microsoft.com/office/drawing/2014/main" id="{EAE66621-9338-D25B-DE2D-CA8F6055D650}"/>
              </a:ext>
            </a:extLst>
          </p:cNvPr>
          <p:cNvSpPr/>
          <p:nvPr/>
        </p:nvSpPr>
        <p:spPr>
          <a:xfrm>
            <a:off x="5212664" y="2673073"/>
            <a:ext cx="4506218" cy="1507082"/>
          </a:xfrm>
          <a:prstGeom prst="wedgeRoundRectCallout">
            <a:avLst>
              <a:gd name="adj1" fmla="val -101632"/>
              <a:gd name="adj2" fmla="val -60146"/>
              <a:gd name="adj3" fmla="val 16667"/>
            </a:avLst>
          </a:prstGeom>
          <a:solidFill>
            <a:srgbClr val="032147"/>
          </a:solidFill>
          <a:ln>
            <a:solidFill>
              <a:srgbClr val="0321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Then paste it into the </a:t>
            </a:r>
            <a:r>
              <a:rPr lang="en-GB" sz="2000" dirty="0" err="1"/>
              <a:t>uproot.open</a:t>
            </a:r>
            <a:r>
              <a:rPr lang="en-GB" sz="2000" dirty="0"/>
              <a:t> method as a string (i.e. between two double quotes “  “)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17168-7199-E428-12A9-82DD7FF3C74B}"/>
              </a:ext>
            </a:extLst>
          </p:cNvPr>
          <p:cNvSpPr txBox="1"/>
          <p:nvPr/>
        </p:nvSpPr>
        <p:spPr>
          <a:xfrm>
            <a:off x="301034" y="5709425"/>
            <a:ext cx="11524786" cy="51077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32147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Congratulations! You’ve successfully loaded a data file into your Jupyter Notebook!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F1B5B4F-7815-2AE4-148E-0392CB0F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E76C-1285-6342-BF22-B5ECE8A988B0}" type="datetimeyyyy">
              <a:rPr lang="en-GB" smtClean="0"/>
              <a:t>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246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9E9CD4D-D325-BB41-8355-B7C626783E4A}" vid="{D5DC5025-72AB-E947-A727-E01768921F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518</Words>
  <Application>Microsoft Macintosh PowerPoint</Application>
  <PresentationFormat>Widescreen</PresentationFormat>
  <Paragraphs>73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Al Bayan Plain</vt:lpstr>
      <vt:lpstr>Arial</vt:lpstr>
      <vt:lpstr>Calibri</vt:lpstr>
      <vt:lpstr>Office Theme</vt:lpstr>
      <vt:lpstr>Finding Open Data</vt:lpstr>
      <vt:lpstr>Finding Open Data</vt:lpstr>
      <vt:lpstr>Finding Open Data</vt:lpstr>
      <vt:lpstr>Finding Open Data</vt:lpstr>
      <vt:lpstr>Finding Open Data</vt:lpstr>
      <vt:lpstr>Finding Open Data</vt:lpstr>
      <vt:lpstr>Finding Open Data</vt:lpstr>
      <vt:lpstr>Finding Open Data</vt:lpstr>
      <vt:lpstr>Finding Open Data</vt:lpstr>
      <vt:lpstr>Finding Open Data</vt:lpstr>
      <vt:lpstr>Finding Open Data</vt:lpstr>
      <vt:lpstr>Finding Open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Eimear Conroy</dc:creator>
  <cp:lastModifiedBy>Eimear Conroy</cp:lastModifiedBy>
  <cp:revision>2</cp:revision>
  <dcterms:created xsi:type="dcterms:W3CDTF">2025-11-27T15:16:07Z</dcterms:created>
  <dcterms:modified xsi:type="dcterms:W3CDTF">2025-11-27T15:55:05Z</dcterms:modified>
</cp:coreProperties>
</file>